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3"/>
    <p:restoredTop sz="94639"/>
  </p:normalViewPr>
  <p:slideViewPr>
    <p:cSldViewPr snapToGrid="0" snapToObjects="1">
      <p:cViewPr varScale="1">
        <p:scale>
          <a:sx n="157" d="100"/>
          <a:sy n="157" d="100"/>
        </p:scale>
        <p:origin x="23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100000">
              <a:srgbClr val="0EA5E9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645920"/>
            <a:ext cx="12188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lang="en-PK" sz="5400" b="1" dirty="0"/>
              <a:t>Chughgai AI helpdesk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DEEFF"/>
                </a:solidFill>
                <a:latin typeface="Calibri"/>
              </a:defRPr>
            </a:pPr>
            <a:r>
              <a:t>Intelligent Voice-Based Customer Support System</a:t>
            </a:r>
            <a:br/>
            <a:r>
              <a:t>for Clinical Laboratory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BDD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Chughtai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BDD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Voice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BDD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59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Urdu / Punjabi /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BBDD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Active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An AI-powered voice assistant handling inbound customer calls for Pakistan's largest diagnostic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🎯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Calibri"/>
              </a:defRPr>
            </a:pPr>
            <a:r>
              <a:t>Automate routine customer support calls — test info, pricing, appointments, home sampling — reducing wait times and freeing agents for complex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3035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💡 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Calibri"/>
              </a:defRPr>
            </a:pPr>
            <a:r>
              <a:t>Handle thousands of daily calls simultaneously. Provide consistent, accurate information with zero hold time. No per-call cloud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3035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🗣️ Customer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Calibri"/>
              </a:defRPr>
            </a:pPr>
            <a:r>
              <a:t>Patients call the lab's phone number. AI answers in Urdu, understands the question, retrieves relevant data, and responds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23360"/>
            <a:ext cx="53035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🔒 Fully On-Premise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846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Calibri"/>
              </a:defRPr>
            </a:pPr>
            <a:r>
              <a:t>All processing on local infrastructure. No cloud dependency. Complete data privacy and control over patient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Project Progress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Key milestones achieved during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62763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Telephony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Asterisk PBX + PTCL SIP trunk integration — full call handling pipeline operational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26771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Audio Processing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Real-time voice capture, G.711 codec, noise handling, audio streaming — fully functional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907791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7889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Speech-to-Text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1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Urdu/Punjabi speech recognition integrated, processing live audio with local ASR model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54787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Knowledge Base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429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Comprehensive KB from 20+ data sheets — tests, doctors, pricing, centers, services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18795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Intent Detection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69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AI-driven classifier handles 16+ intent categories with intelligent routing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82803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AI Response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709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LLM-powered natural Urdu responses generated from KB data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468111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80160" y="53492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Admin Panel (CRM)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3492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Web dashboard: live monitoring, transcripts, analytics, workflow management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610819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0160" y="5989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✓  Workflow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989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Multi-turn conversation flows for home sampling, consultations, bookings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Core Modules Developed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High-level overview of primary 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📞 AI Call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6420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Automated answering, conversation management, multi-turn dialogue, intelligent escalation to human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70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🔌 Telephony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7004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MicroSIP + Asterisk PBX with PTCL SIP trunk. Call routing, audio bridging, standard phone line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6758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🎤 Speech-to-Text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7588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Real-time Urdu/Punjabi voice recognition on local hardware. No cloud dependency.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681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🧠 Intent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6817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Understands caller needs — pricing, doctors, home sampling, promotions — routes to correct handler.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687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📚 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68756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500+ tests, doctor schedules, center locations, pricing, preparation instructions.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Core Modules Developed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🤖 AI Response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813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Natural Urdu responses using LLM + KB data. Context-aware, conversational replies.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87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🖥️ Admin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8716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Web CRM dashboard — live calls, transcripts, analytics, workflow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493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📊 Call History &amp;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9300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Complete logs, intent breakdown, resolution rates, performance 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4988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⚙️ Workflow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9884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Visual builder for multi-step processes — home sampling, appointments, guided consultations.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515600" cy="8686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5046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Calibri"/>
              </a:defRPr>
            </a:pPr>
            <a:r>
              <a:t>🏠 Home Sampling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50468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Calibri"/>
              </a:defRPr>
            </a:pPr>
            <a:r>
              <a:t>End-to-end booking: collects patient name, phone, address, test, time through natural conversation.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548640" y="3291840"/>
            <a:ext cx="109728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How a customer call is processed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1</a:t>
            </a:r>
            <a:br/>
            <a:r>
              <a:t>Customer</a:t>
            </a:r>
            <a:br/>
            <a:r>
              <a:t>Places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2</a:t>
            </a:r>
            <a:br/>
            <a:r>
              <a:t>AI Bot</a:t>
            </a:r>
            <a:br/>
            <a:r>
              <a:t>Receives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3</a:t>
            </a:r>
            <a:br/>
            <a:r>
              <a:t>Voice → Text</a:t>
            </a:r>
            <a:br/>
            <a:r>
              <a:t>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4</a:t>
            </a:r>
            <a:br/>
            <a:r>
              <a:t>AI Understands</a:t>
            </a:r>
            <a:br/>
            <a:r>
              <a:t>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5</a:t>
            </a:r>
            <a:br/>
            <a:r>
              <a:t>Knowledge Base</a:t>
            </a:r>
            <a:br/>
            <a:r>
              <a:t>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6</a:t>
            </a:r>
            <a:br/>
            <a:r>
              <a:t>AI Generates</a:t>
            </a:r>
            <a:br/>
            <a:r>
              <a:t>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1828800"/>
            <a:ext cx="1417320" cy="1188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7</a:t>
            </a:r>
            <a:br/>
            <a:r>
              <a:t>Voice Response</a:t>
            </a:r>
            <a:br/>
            <a:r>
              <a:t>to Caller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Calibri"/>
              </a:defRPr>
            </a:pPr>
            <a:r>
              <a:t>PTCL Phone Line → Asterisk PBX (SIP/G.711) → AI Stasis App</a:t>
            </a:r>
            <a:br/>
            <a:r>
              <a:t>    → Audio Processing (decode, resample 8→16kHz, silence detection)</a:t>
            </a:r>
            <a:br/>
            <a:r>
              <a:t>    → Speech-to-Text (local Urdu ASR model)</a:t>
            </a:r>
            <a:br/>
            <a:r>
              <a:t>    → Intent Detection (16+ categories)</a:t>
            </a:r>
            <a:br/>
            <a:r>
              <a:t>    → Knowledge Base Retrieval (tests, doctors, pricing, centers)</a:t>
            </a:r>
            <a:br/>
            <a:r>
              <a:t>    → AI Response Generation (LLM + KB context)</a:t>
            </a:r>
            <a:br/>
            <a:r>
              <a:t>    → Text-to-Speech (Urdu) → Caller hears response</a:t>
            </a:r>
            <a:br/>
            <a:r>
              <a:t>    → If unresolved: Smart escalation to live human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Admin Panel —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5731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Real-time overview of system performance and active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86956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rPr lang="en-GB" dirty="0"/>
              <a:t>Features: Real-time stats (total, resolved, escalated, abandoned), live call cards with caller number, and duration. Auto-refreshing interface for continuous monitoring.</a:t>
            </a:r>
            <a:endParaRPr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7B9C772-907D-93B1-9A00-26C9BEEE0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94262"/>
            <a:ext cx="9579973" cy="43649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Admin Panel — Call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5499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Complete searchable log of all calls with transcripts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57784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rPr dirty="0"/>
              <a:t>Features: Each call includes a complete transcript showing caller-AI conversation with intent classification and confidence scores. 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7F45125-04EB-07E8-723D-711F24607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86" y="1253797"/>
            <a:ext cx="10058399" cy="42164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rPr dirty="0"/>
              <a:t>Admin Panel — Workflow </a:t>
            </a:r>
            <a:r>
              <a:rPr lang="en-US" dirty="0"/>
              <a:t>Builder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Visual workflow builder for multi-step conversation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08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FFABE51-9F52-9B4C-4276-3663D7814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72" y="1302818"/>
            <a:ext cx="9969387" cy="46407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57ABB0-D6AA-874B-2A7C-3CE42C3A3D0B}"/>
              </a:ext>
            </a:extLst>
          </p:cNvPr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rPr dirty="0"/>
              <a:t>Admin Panel — Home Sampling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9D85C-ACDE-2C7C-E8A5-62E0C3F1C703}"/>
              </a:ext>
            </a:extLst>
          </p:cNvPr>
          <p:cNvSpPr txBox="1"/>
          <p:nvPr/>
        </p:nvSpPr>
        <p:spPr>
          <a:xfrm>
            <a:off x="731520" y="91440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Multi-step booking flow: patient info → address → test → time → confirmation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466C3-5F87-7834-1FCF-B4418EB14218}"/>
              </a:ext>
            </a:extLst>
          </p:cNvPr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FFA329-6CDA-B8F0-1F83-6B2E9F908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19" y="1383738"/>
            <a:ext cx="10373989" cy="469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39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Admin Panel — Analytics &amp; AI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Intent breakdown, metrics, and direct bot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09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D5A5F10-F84D-B163-2056-D1A732E14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19" y="1371600"/>
            <a:ext cx="10179781" cy="50223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Current 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Transparent overview of ongoing optimization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828800"/>
          </a:xfrm>
          <a:prstGeom prst="roundRect">
            <a:avLst/>
          </a:prstGeom>
          <a:solidFill>
            <a:srgbClr val="FEF3C7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2400E"/>
                </a:solidFill>
                <a:latin typeface="Calibri"/>
              </a:defRPr>
            </a:pPr>
            <a:r>
              <a:t>⚠️  Current Challenge: Speech Recognition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• The ASR model occasionally struggles with accurate Urdu transcription in noisy environments</a:t>
            </a:r>
            <a:br/>
            <a:r>
              <a:t>• Some regional accents and dialectal variations (Punjabi/Urdu mix) reduce accuracy</a:t>
            </a:r>
            <a:br/>
            <a:r>
              <a:t>• When transcription is inaccurate, intent detection may not correctly identify the caller's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📋 Work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Extensive KB data preparation &amp; structuring</a:t>
            </a:r>
            <a:br/>
            <a:r>
              <a:t>✅ Multiple testing &amp; optimization cycles</a:t>
            </a:r>
            <a:br/>
            <a:r>
              <a:t>✅ Audio preprocessing optimized for noise</a:t>
            </a:r>
            <a:br/>
            <a:r>
              <a:t>✅ Silence detection algorithms refined</a:t>
            </a:r>
            <a:br/>
            <a:r>
              <a:t>✅ Intent fallback mechanisms 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🔧 Resolution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0690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🔄 Continuous ASR model optimization</a:t>
            </a:r>
            <a:br/>
            <a:r>
              <a:t>🔄 Improving audio preprocessing &amp; noise handling</a:t>
            </a:r>
            <a:br/>
            <a:r>
              <a:t>🔄 Refining training datasets with more samples</a:t>
            </a:r>
            <a:br/>
            <a:r>
              <a:t>🔄 Enhancing intent detection fallbacks</a:t>
            </a:r>
            <a:br/>
            <a:r>
              <a:t>🔄 Smart escalation when confidence is 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What's working, what's being optimized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✅ Fully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Telephony integration (PTCL → Asterisk → Bot)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96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Real-time audio capture and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980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Speech-to-Text conversion (Urdu)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99815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Intent detection and classification (16+ types)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01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Knowledge base retrieval and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AI response generation (LLM-based)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05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Text-to-Speech for Urdu responses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06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Multi-turn workflows (Home Sampling, etc.)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085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Admin panel with live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10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Call history and transcript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Workflow builder and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13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Bot Chat testing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1558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Escalation to human agents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54480"/>
            <a:ext cx="50292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🔄 Under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ASR accuracy for regional accents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542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Intent confidence threshold 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89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Response naturalness in edge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36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Call flow smoothness improvements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584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KB coverage for rare queries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572000"/>
            <a:ext cx="5029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📈 System Stability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1206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Calibri"/>
              </a:defRPr>
            </a:pPr>
            <a:r>
              <a:t>• Core pipeline: Stable and reliable</a:t>
            </a:r>
            <a:br/>
            <a:r>
              <a:t>• Admin panel: Production-ready</a:t>
            </a:r>
            <a:br/>
            <a:r>
              <a:t>• Telephony: Handles concurrent calls</a:t>
            </a:r>
            <a:br/>
            <a:r>
              <a:t>• KB: Comprehensive coverage</a:t>
            </a:r>
            <a:br/>
            <a:r>
              <a:t>• Uptime: Consistent with auto-recovery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Project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Key outcomes delivered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  Customer Support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AI handles routine inquiries end-to-end — pricing, availability, preparation — without human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  Faster Query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Average call under 2 minutes. Zero hold time — instant responses without waiting in a queue.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  Reduced Manual Workload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Repetitive queries (pricing, test info, locations) handled by AI — agents focus on complex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004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  Better Customer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947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Natural Urdu conversation, 24/7 availability, consistent accuracy from a single source of truth.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  Scalable AI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On-premise architecture handles multiple simultaneous calls. No per-call API costs.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4632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✓  Centralized Admin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440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Complete visibility — live calls, transcripts, analytics, workflows — all from one dashboard.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100000">
              <a:srgbClr val="1A56D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31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EEFF"/>
                </a:solidFill>
                <a:latin typeface="Calibri"/>
              </a:defRPr>
            </a:pPr>
            <a:r>
              <a:t>The AI Helpdesk system has been successfully developed with all core modules operational.</a:t>
            </a:r>
            <a:br/>
            <a:r>
              <a:t>The platform is actively handling calls and delivering measurable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377440"/>
            <a:ext cx="7616952" cy="2011680"/>
          </a:xfrm>
          <a:prstGeom prst="roundRect">
            <a:avLst/>
          </a:prstGeom>
          <a:solidFill>
            <a:srgbClr val="24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0" y="2560320"/>
            <a:ext cx="70683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EEFF"/>
                </a:solidFill>
                <a:latin typeface="Calibri"/>
              </a:defRPr>
            </a:pPr>
            <a:r>
              <a:t>✓ End-to-end voice AI pipeline (telephony → STT → intent → KB → LLM → TTS)</a:t>
            </a:r>
            <a:br/>
            <a:r>
              <a:t>✓ 16+ intent categories with intelligent routing</a:t>
            </a:r>
            <a:br/>
            <a:r>
              <a:t>✓ Comprehensive knowledge base covering all lab services</a:t>
            </a:r>
            <a:br/>
            <a:r>
              <a:t>✓ Multi-turn workflow automation (home sampling, appointments)</a:t>
            </a:r>
            <a:br/>
            <a:r>
              <a:t>✓ Full-featured admin panel with real-time monitoring</a:t>
            </a:r>
            <a:br/>
            <a:r>
              <a:t>✓ Smart escalation to human agents for unresolved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29473" y="5029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Thank you for your continued partnership.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1318</Words>
  <Application>Microsoft Macintosh PowerPoint</Application>
  <PresentationFormat>Custom</PresentationFormat>
  <Paragraphs>152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Benish Asghar</cp:lastModifiedBy>
  <cp:revision>13</cp:revision>
  <dcterms:created xsi:type="dcterms:W3CDTF">2013-01-27T09:14:16Z</dcterms:created>
  <dcterms:modified xsi:type="dcterms:W3CDTF">2026-05-22T07:55:08Z</dcterms:modified>
  <cp:category/>
</cp:coreProperties>
</file>