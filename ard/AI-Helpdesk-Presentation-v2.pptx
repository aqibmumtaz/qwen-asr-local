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67" r:id="rId19"/>
    <p:sldId id="268" r:id="rId20"/>
    <p:sldId id="269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9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100000">
              <a:srgbClr val="0EA5E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64592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PK" sz="5400" b="1" dirty="0"/>
              <a:t>Chughgai AI helpdesk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EEFF"/>
                </a:solidFill>
                <a:latin typeface="Calibri"/>
              </a:defRPr>
            </a:pPr>
            <a:r>
              <a:t>Intelligent Voice-Based Customer Support System</a:t>
            </a:r>
            <a:br/>
            <a:r>
              <a:t>for Clinical Laboratory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Chughtai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Voice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Urdu / Punjabi /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An AI-powered voice assistant handling inbound customer calls for Pakistan's largest diagnostic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🎯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Automate routine customer support calls — test info, pricing, appointments, home sampling — reducing wait times and freeing agents for complex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💡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Handle thousands of daily calls simultaneously. Provide consistent, accurate information with zero hold time. No per-call cloud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🗣️ Customer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Patients call the lab's phone number. AI answers in Urdu, understands the question, retrieves relevant data, and responds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🔒 Fully On-Premise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All processing on local infrastructure. No cloud dependency. Complete data privacy and control over patient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Progress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Key milestones achieved during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276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Telephony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Asterisk PBX + PTCL SIP trunk integration — full call handling pipeline operational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6771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Audio 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Real-time voice capture, G.711 codec, noise handling, audio streaming — fully functional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07791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7889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Speech-to-Text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1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Urdu/Punjabi speech recognition integrated, processing live audio with local ASR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478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Knowledge Base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Comprehensive KB from 20+ data sheets — tests, doctors, pricing, centers, services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8795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Intent Detection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AI-driven classifier handles 16+ intent categories with intelligent routing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280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AI Response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LLM-powered natural Urdu responses generated from KB data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468111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Admin Panel (CRM)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492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Web dashboard: live monitoring, transcripts, analytics, workflow management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610819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Workflow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89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Multi-turn conversation flows for home sampling, consultations, bookings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Core Modules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High-level overview of primary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📞 AI Call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6420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Automated answering, conversation management, multi-turn dialogue, intelligent escalation to human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🔌 Telephony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700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MicroSIP + Asterisk PBX with PTCL SIP trunk. Call routing, audio bridging, standard phone line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75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🎤 Speech-to-Text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58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Real-time Urdu/Punjabi voice recognition on local hardware. No cloud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🧠 Intent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681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Understands caller needs — pricing, doctors, home sampling, promotions — routes to correct handler.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📚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875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500+ tests, doctor schedules, center locations, pricing, preparation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Core Modules Developed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🤖 AI Response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813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Natural Urdu responses using LLM + KB data. Context-aware, conversational replies.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🖥️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871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Web CRM dashboard — live calls, transcripts, analytics, workflow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📊 Call History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9300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Complete logs, intent breakdown, resolution rates, performance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⚙️ Workflow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988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Visual builder for multi-step processes — home sampling, appointments, guided consultations.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504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🏠 Home Sampling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5046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End-to-end booking: collects patient name, phone, address, test, time through natural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548640" y="3291840"/>
            <a:ext cx="109728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How a customer call is processed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1</a:t>
            </a:r>
            <a:br/>
            <a:r>
              <a:t>Customer</a:t>
            </a:r>
            <a:br/>
            <a:r>
              <a:t>Places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2</a:t>
            </a:r>
            <a:br/>
            <a:r>
              <a:t>AI Bot</a:t>
            </a:r>
            <a:br/>
            <a:r>
              <a:t>Receives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3</a:t>
            </a:r>
            <a:br/>
            <a:r>
              <a:t>Voice → Text</a:t>
            </a:r>
            <a:br/>
            <a:r>
              <a:t>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4</a:t>
            </a:r>
            <a:br/>
            <a:r>
              <a:t>AI Understands</a:t>
            </a:r>
            <a:br/>
            <a: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5</a:t>
            </a:r>
            <a:br/>
            <a:r>
              <a:t>Knowledge Base</a:t>
            </a:r>
            <a:br/>
            <a: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6</a:t>
            </a:r>
            <a:br/>
            <a:r>
              <a:t>AI Generates</a:t>
            </a:r>
            <a:br/>
            <a: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7</a:t>
            </a:r>
            <a:br/>
            <a:r>
              <a:t>Voice Response</a:t>
            </a:r>
            <a:br/>
            <a:r>
              <a:t>to Caller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PTCL Phone Line → Asterisk PBX (SIP/G.711) → AI Stasis App</a:t>
            </a:r>
            <a:br/>
            <a:r>
              <a:t>    → Audio Processing (decode, resample 8→16kHz, silence detection)</a:t>
            </a:r>
            <a:br/>
            <a:r>
              <a:t>    → Speech-to-Text (local Urdu ASR model)</a:t>
            </a:r>
            <a:br/>
            <a:r>
              <a:t>    → Intent Detection (16+ categories)</a:t>
            </a:r>
            <a:br/>
            <a:r>
              <a:t>    → Knowledge Base Retrieval (tests, doctors, pricing, centers)</a:t>
            </a:r>
            <a:br/>
            <a:r>
              <a:t>    → AI Response Generation (LLM + KB context)</a:t>
            </a:r>
            <a:br/>
            <a:r>
              <a:t>    → Text-to-Speech (Urdu) → Caller hears response</a:t>
            </a:r>
            <a:br/>
            <a:r>
              <a:t>    → If unresolved: Smart escalation to live human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5731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Real-time overview of system performance and active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86956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rPr lang="en-GB" dirty="0"/>
              <a:t>Features: Real-time stats (total, resolved, escalated, abandoned), live call cards with caller number, and duration. Auto-refreshing interface for continuous monitoring.</a:t>
            </a:r>
            <a:endParaRPr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7B9C772-907D-93B1-9A00-26C9BEEE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94262"/>
            <a:ext cx="9579973" cy="4364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Call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549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Complete searchable log of all calls with transcripts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778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rPr dirty="0"/>
              <a:t>Features: Each call includes a complete transcript showing caller-AI conversation with intent classification and confidence scores. 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7F45125-04EB-07E8-723D-711F24607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6" y="1253797"/>
            <a:ext cx="10058399" cy="4216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Admin Panel — Workflow </a:t>
            </a:r>
            <a:r>
              <a:rPr lang="en-US" dirty="0"/>
              <a:t>Builder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Visual workflow builder for multi-step conversation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FABE51-9F52-9B4C-4276-3663D781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72" y="1302818"/>
            <a:ext cx="9969387" cy="4640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57ABB0-D6AA-874B-2A7C-3CE42C3A3D0B}"/>
              </a:ext>
            </a:extLst>
          </p:cNvPr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Admin Panel — Home Sampling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9D85C-ACDE-2C7C-E8A5-62E0C3F1C703}"/>
              </a:ext>
            </a:extLst>
          </p:cNvPr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Multi-step booking flow: patient info → address → test → time → confirmation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466C3-5F87-7834-1FCF-B4418EB14218}"/>
              </a:ext>
            </a:extLst>
          </p:cNvPr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FFA329-6CDA-B8F0-1F83-6B2E9F90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" y="1383738"/>
            <a:ext cx="10373989" cy="469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3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Analytics &amp; AI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Intent breakdown, metrics, and direct bot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09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D5A5F10-F84D-B163-2056-D1A732E1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" y="1371600"/>
            <a:ext cx="10179781" cy="50223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Current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Transparent overview of ongoing optimization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828800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2400E"/>
                </a:solidFill>
                <a:latin typeface="Calibri"/>
              </a:defRPr>
            </a:pPr>
            <a:r>
              <a:t>⚠️  Current Challenge: Speech Recognition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• The ASR model occasionally struggles with accurate Urdu transcription in noisy environments</a:t>
            </a:r>
            <a:br/>
            <a:r>
              <a:t>• Some regional accents and dialectal variations (Punjabi/Urdu mix) reduce accuracy</a:t>
            </a:r>
            <a:br/>
            <a:r>
              <a:t>• When transcription is inaccurate, intent detection may not correctly identify the caller's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📋 Work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Extensive KB data preparation &amp; structuring</a:t>
            </a:r>
            <a:br/>
            <a:r>
              <a:t>✅ Multiple testing &amp; optimization cycles</a:t>
            </a:r>
            <a:br/>
            <a:r>
              <a:t>✅ Audio preprocessing optimized for noise</a:t>
            </a:r>
            <a:br/>
            <a:r>
              <a:t>✅ Silence detection algorithms refined</a:t>
            </a:r>
            <a:br/>
            <a:r>
              <a:t>✅ Intent fallback mechanisms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🔧 Resolution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69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🔄 Continuous ASR model optimization</a:t>
            </a:r>
            <a:br/>
            <a:r>
              <a:t>🔄 Improving audio preprocessing &amp; noise handling</a:t>
            </a:r>
            <a:br/>
            <a:r>
              <a:t>🔄 Refining training datasets with more samples</a:t>
            </a:r>
            <a:br/>
            <a:r>
              <a:t>🔄 Enhancing intent detection fallbacks</a:t>
            </a:r>
            <a:br/>
            <a:r>
              <a:t>🔄 Smart escalation when confidence is 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11827"/>
                </a:solidFill>
                <a:latin typeface="Calibri"/>
              </a:rPr>
              <a:t>Speech-to-Text (STT) Challenges</a:t>
            </a:r>
            <a:r>
              <a:rPr lang="en-US" sz="3200" b="1" dirty="0">
                <a:solidFill>
                  <a:srgbClr val="111827"/>
                </a:solidFill>
                <a:latin typeface="Calibri"/>
              </a:rPr>
              <a:t> — Part 1</a:t>
            </a:r>
            <a:endParaRPr sz="32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Recording quality and speaker challenges in telephony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50000"/>
            <a:ext cx="10725785" cy="2524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520" y="1590000"/>
            <a:ext cx="2620000" cy="2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Calibri"/>
              </a:rPr>
              <a:t>⚠️  8 kHz Telephony vs 16 kHz ASR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1520" y="1590000"/>
            <a:ext cx="18000" cy="2244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11520" y="1590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Telephony (G.711 codec) records at 8 kHz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520" y="2338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ASR models require 16 kHz — upsampling recovers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1520" y="3086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High-frequency band (4–8 kHz) permanently lost at codec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412" y="1590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Urdu fricatives (ش، س، ز، ف، خ، غ) live in this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412" y="2338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Higher WER on fricative-heavy Urdu medical vocabulary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4412" y="3086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Mitigation: capture 16 kHz before codec; spectral enhancement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54000"/>
            <a:ext cx="10725785" cy="25240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520" y="4294000"/>
            <a:ext cx="2620000" cy="2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6DB"/>
                </a:solidFill>
                <a:latin typeface="Calibri"/>
              </a:rPr>
              <a:t>👥  Dual-Speaker Audio on One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1520" y="4294000"/>
            <a:ext cx="18000" cy="2244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1520" y="4294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Caller (patient): normal volume — model handles adequately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0" y="5042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Agent: low volume (distant mic) + very fast professional speech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1520" y="5790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Single mixed audio channel — no speaker separation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4412" y="4294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Agent utterances transcribed with higher error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4412" y="5042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Fast speech causes word merging; low volume drowned by caller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4412" y="5790000"/>
            <a:ext cx="3712892" cy="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Mitigation: two-channel PBX recording; VAD + diarisation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11827"/>
                </a:solidFill>
                <a:latin typeface="Calibri"/>
              </a:rPr>
              <a:t>STT: Language &amp; Training Challenges</a:t>
            </a:r>
            <a:r>
              <a:rPr lang="en-US" sz="3200" b="1" dirty="0">
                <a:solidFill>
                  <a:srgbClr val="111827"/>
                </a:solidFill>
                <a:latin typeface="Calibri"/>
              </a:rPr>
              <a:t> — Part 2</a:t>
            </a:r>
            <a:endParaRPr sz="32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Urdu-specific language gaps and model training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50000"/>
            <a:ext cx="10725785" cy="162266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520" y="1590000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Calibri"/>
              </a:rPr>
              <a:t>🌐  Language-Hint Dilemma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1520" y="1590000"/>
            <a:ext cx="18000" cy="134266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11520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No "language Urdu" — model treats Urdu speech as Hindi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520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Hindi hint: correct content but drops nuktas (ز→ج، ف→پھ، ق→ک)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1520" y="248511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English hint: preserves nuktas but outputs Latin phrases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412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Root cause: Urdu not in model supported language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412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Fix: fine-tune on Urdu + nukta-aware post-processing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52666"/>
            <a:ext cx="10725785" cy="1622666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520" y="3392666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6DB"/>
                </a:solidFill>
                <a:latin typeface="Calibri"/>
              </a:rPr>
              <a:t>💊  Code-Switching &amp; Medical Vocabulary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1520" y="3392666"/>
            <a:ext cx="18000" cy="134266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1520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Callers mix Urdu, English medical terms (CBC, creatinine) and Punjabi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1520" y="3840221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Medical terms (lab tests, drug names, anatomy) are out-of-vocabulary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0" y="428777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Doctor/test/branch names (Johar Town, Gulberg, Liberty) mis-transcribed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412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General ASR has no exposure to clinical lab domain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4412" y="3840221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Fix: domain fine-tuning on helpdesk audio + proper-noun lexicon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55332"/>
            <a:ext cx="10725785" cy="162266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520" y="5195332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📚  Training Data &amp; Domain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1520" y="5195332"/>
            <a:ext cx="18000" cy="13426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1520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dirty="0">
                <a:solidFill>
                  <a:srgbClr val="111827"/>
                </a:solidFill>
                <a:latin typeface="Calibri"/>
              </a:rPr>
              <a:t>• </a:t>
            </a:r>
            <a:r>
              <a:rPr lang="en-US" sz="1150" b="0" dirty="0">
                <a:solidFill>
                  <a:srgbClr val="111827"/>
                </a:solidFill>
                <a:latin typeface="Calibri"/>
              </a:rPr>
              <a:t>Scarcity in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Urdu telephony corpus —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CommonVoice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(~100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hrs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) is read-speech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1520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dirty="0">
                <a:solidFill>
                  <a:srgbClr val="111827"/>
                </a:solidFill>
                <a:latin typeface="Calibri"/>
              </a:rPr>
              <a:t>• In-domain audio needs native annotators; labels must be orthographically consistent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1520" y="609044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11827"/>
                </a:solidFill>
                <a:latin typeface="Calibri"/>
              </a:rPr>
              <a:t>• Fine-tuning needs GPU + careful LR scheduling; risks catastrophic forgetting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412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dirty="0">
                <a:solidFill>
                  <a:srgbClr val="111827"/>
                </a:solidFill>
                <a:latin typeface="Calibri"/>
              </a:rPr>
              <a:t>• Standard WER ignores script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normalisation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(alef variants: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ا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،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آ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، </a:t>
            </a:r>
            <a:r>
              <a:rPr sz="1150" b="0" dirty="0" err="1">
                <a:solidFill>
                  <a:srgbClr val="111827"/>
                </a:solidFill>
                <a:latin typeface="Calibri"/>
              </a:rPr>
              <a:t>أ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4412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dirty="0">
                <a:solidFill>
                  <a:srgbClr val="111827"/>
                </a:solidFill>
                <a:latin typeface="Calibri"/>
              </a:rPr>
              <a:t>• </a:t>
            </a:r>
            <a:r>
              <a:rPr lang="en-US" sz="1150" b="0" dirty="0">
                <a:solidFill>
                  <a:srgbClr val="111827"/>
                </a:solidFill>
                <a:latin typeface="Calibri"/>
              </a:rPr>
              <a:t>Urdu </a:t>
            </a:r>
            <a:r>
              <a:rPr lang="en-US" sz="1150" dirty="0">
                <a:solidFill>
                  <a:srgbClr val="111827"/>
                </a:solidFill>
                <a:latin typeface="Calibri"/>
              </a:rPr>
              <a:t>a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ccents across Lahore, Karachi, Peshawar, Faisalabad not uniformly covered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11827"/>
                </a:solidFill>
                <a:latin typeface="Calibri"/>
              </a:rPr>
              <a:t>STT </a:t>
            </a:r>
            <a:r>
              <a:rPr sz="3200" b="1" dirty="0">
                <a:solidFill>
                  <a:srgbClr val="111827"/>
                </a:solidFill>
                <a:latin typeface="Calibri"/>
              </a:rPr>
              <a:t>Progress: Hindi → Roman Urdu</a:t>
            </a:r>
            <a:r>
              <a:rPr lang="en-US" sz="3200" b="1" dirty="0">
                <a:solidFill>
                  <a:srgbClr val="111827"/>
                </a:solidFill>
                <a:latin typeface="Calibri"/>
              </a:rPr>
              <a:t> — Part 3</a:t>
            </a:r>
            <a:endParaRPr sz="32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Custom post-processing pipeline built at BitLogix to bridge the Urdu ASR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50000"/>
            <a:ext cx="10725785" cy="4600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520" y="1560000"/>
            <a:ext cx="104457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56DB"/>
                </a:solidFill>
                <a:latin typeface="Calibri"/>
              </a:rPr>
              <a:t>Qwen3-ASR outputs Hindi Devanagari for Urdu speech. A 3-layer </a:t>
            </a:r>
            <a:r>
              <a:rPr lang="en-US" sz="1200" b="0" dirty="0">
                <a:solidFill>
                  <a:srgbClr val="1A56DB"/>
                </a:solidFill>
                <a:latin typeface="Calibri"/>
              </a:rPr>
              <a:t>deterministic model</a:t>
            </a:r>
            <a:r>
              <a:rPr sz="1200" b="0" dirty="0">
                <a:solidFill>
                  <a:srgbClr val="1A56DB"/>
                </a:solidFill>
                <a:latin typeface="Calibri"/>
              </a:rPr>
              <a:t> converts Devanagari → Roman Urdu for downstream NLP.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90000"/>
            <a:ext cx="2546446" cy="1750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1520" y="2210000"/>
            <a:ext cx="226644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Calibri"/>
              </a:rPr>
              <a:t>1️⃣  ASR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520" y="2690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Qwen3-ASR transcribes Urdu speech as Hindi Devanagari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520" y="3265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e.g.  زندگی → ज़िंदगी   |   قابل → क़ाबिल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7966" y="2090000"/>
            <a:ext cx="2546446" cy="17500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7966" y="2210000"/>
            <a:ext cx="226644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6DB"/>
                </a:solidFill>
                <a:latin typeface="Calibri"/>
              </a:rPr>
              <a:t>2️⃣  Phoneme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966" y="2690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Each Devanagari char → Roman Urdu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966" y="3265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Nuktas resolved:  फ़→f   ज़→z   क़→q   ख़→kh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412" y="2090000"/>
            <a:ext cx="2546446" cy="17500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4412" y="2210000"/>
            <a:ext cx="226644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alibri"/>
              </a:rPr>
              <a:t>3️⃣  Schwa 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12" y="2690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Sanskrit schwa (/ə/) is silent in Urdu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12" y="3265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Rule-based:  करम→karam  (not karama)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0858" y="2090000"/>
            <a:ext cx="2546446" cy="175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0858" y="2210000"/>
            <a:ext cx="226644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4️⃣  Lexicon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0858" y="2690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~985 word corrections + ~286 proper nouns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858" y="3265000"/>
            <a:ext cx="2266446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Medical vocab, Urdu phonology, names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0000"/>
            <a:ext cx="5272892" cy="26380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1520" y="4140000"/>
            <a:ext cx="4992892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alibri"/>
              </a:rPr>
              <a:t>✅  What It Solves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520" y="4620000"/>
            <a:ext cx="4992892" cy="4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No native Urdu ASR → Devanagari re-mapped to Roman Urdu for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520" y="5027600"/>
            <a:ext cx="4992892" cy="4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Nukta omission → English hint + nukta-aware map (फ़→f, ज़→z, क़→q)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520" y="5435200"/>
            <a:ext cx="4992892" cy="4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Urdu phonology (ph→f, j→z) → closed rules; open sets via lexicon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520" y="5842800"/>
            <a:ext cx="4992892" cy="4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Medical &amp; proper nouns → proper-noun dictionary (branches, doctors)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520" y="6250400"/>
            <a:ext cx="4992892" cy="4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Script mismatch → clean Roman Urdu for intent classifier &amp; 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4412" y="4020000"/>
            <a:ext cx="5272892" cy="26380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4412" y="4140000"/>
            <a:ext cx="4992892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⚠️  Current 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12" y="4620000"/>
            <a:ext cx="4992892" cy="50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Lexicon must be maintained manually as new vocab is encountered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12" y="5129500"/>
            <a:ext cx="4992892" cy="50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Regional accent variation produces Devanagari forms that miss lexicon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412" y="5639000"/>
            <a:ext cx="4992892" cy="50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Nukta emission is inconsistent across varying audio quality levels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12" y="6148500"/>
            <a:ext cx="4992892" cy="50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No automatic detection of lexicon gaps — errors surface only in QA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29FB20A-8A01-D37B-7954-E8CE27C1E34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3277966" y="2965000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FFF8E6-CC7A-3E54-3601-80B471946A7D}"/>
              </a:ext>
            </a:extLst>
          </p:cNvPr>
          <p:cNvCxnSpPr/>
          <p:nvPr/>
        </p:nvCxnSpPr>
        <p:spPr>
          <a:xfrm>
            <a:off x="5993302" y="2939807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942CFB-620C-FB19-C0CF-DF3C3EF7B85F}"/>
              </a:ext>
            </a:extLst>
          </p:cNvPr>
          <p:cNvCxnSpPr/>
          <p:nvPr/>
        </p:nvCxnSpPr>
        <p:spPr>
          <a:xfrm>
            <a:off x="8730858" y="2914614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11827"/>
                </a:solidFill>
                <a:latin typeface="Calibri"/>
              </a:rPr>
              <a:t>Text-to-Speech (TTS) Challenges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Infrastructure and model limitations for on-premises Urdu TTS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50000"/>
            <a:ext cx="10725785" cy="162266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520" y="1590000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Calibri"/>
              </a:rPr>
              <a:t>📞  Telephony Downsampling: 16→8 kHz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1520" y="1590000"/>
            <a:ext cx="18000" cy="134266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11520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TTS models generate audio at 16–24 kHz (full bandwidth)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520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PTCL SIP / G.711 delivers to caller at only 8 kHz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1520" y="248511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High-frequency band collapses — synthesised voice sounds muffled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412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Urdu fricatives (ش،س،ز،خ) especially degraded by codec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412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Mitigation: codec-aware TTS training; high-shelf boost before downsampling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52666"/>
            <a:ext cx="10725785" cy="1622666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520" y="3392666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6DB"/>
                </a:solidFill>
                <a:latin typeface="Calibri"/>
              </a:rPr>
              <a:t>🔇  Scarce On-Premises Urdu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1520" y="3392666"/>
            <a:ext cx="18000" cy="134266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1520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Cloud (Google WaveNet, Azure Neural, Amazon Polly) — excluded, data privacy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1520" y="3840221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• Research models (IMS-Toucan, MMS-TTS) — Urdu quality inconsistent, not production-ready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0" y="428777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• Open on-prem (Coqui XTTS, Piper TTS) — limited Urdu data; naturalness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412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• Target: VITS or XTTS fine-tuned on Urdu — needs custom dataset + GPU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4412" y="3840221"/>
            <a:ext cx="37128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• Fine-tuning needs </a:t>
            </a:r>
            <a:r>
              <a:rPr lang="en-US" sz="1250" b="0" dirty="0">
                <a:solidFill>
                  <a:srgbClr val="111827"/>
                </a:solidFill>
                <a:latin typeface="Calibri"/>
              </a:rPr>
              <a:t>large number of</a:t>
            </a:r>
            <a:r>
              <a:rPr sz="125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11827"/>
                </a:solidFill>
                <a:latin typeface="Calibri"/>
              </a:rPr>
              <a:t>hrs</a:t>
            </a:r>
            <a:r>
              <a:rPr sz="1250" b="0" dirty="0">
                <a:solidFill>
                  <a:srgbClr val="111827"/>
                </a:solidFill>
                <a:latin typeface="Calibri"/>
              </a:rPr>
              <a:t> clean professionally recorded Urdu speech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55332"/>
            <a:ext cx="10725785" cy="1622666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520" y="5195332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DC2626"/>
                </a:solidFill>
                <a:latin typeface="Calibri"/>
              </a:rPr>
              <a:t>🔤  Missing Diacritics (</a:t>
            </a:r>
            <a:r>
              <a:rPr sz="1500" b="1" dirty="0" err="1">
                <a:solidFill>
                  <a:srgbClr val="DC2626"/>
                </a:solidFill>
                <a:latin typeface="Calibri"/>
              </a:rPr>
              <a:t>Aerab</a:t>
            </a:r>
            <a:r>
              <a:rPr sz="1500" b="1" dirty="0">
                <a:solidFill>
                  <a:srgbClr val="DC2626"/>
                </a:solidFill>
                <a:latin typeface="Calibri"/>
              </a:rPr>
              <a:t>) Problem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1520" y="5195332"/>
            <a:ext cx="18000" cy="134266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1520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Urdu Nastaliq written without short vowels (زبر، زیر، پیش) in all practical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1520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Same written word → multiple valid pronunciations without aerab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1520" y="609044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"کرم" = karam (grace) or kirm (worm) — TTS must guess and may be wrong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412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LLM-generated text always lacks aerab — no practical way to enforce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4412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111827"/>
                </a:solidFill>
                <a:latin typeface="Calibri"/>
              </a:rPr>
              <a:t>• Mitigation: G2P model with context; constrained vocab for domain terms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Calibri"/>
              </a:rPr>
              <a:t>Text-to-Speech (TTS) Challenges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Content rendering, quality and deployment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50000"/>
            <a:ext cx="10725785" cy="162266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520" y="1590000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Calibri"/>
              </a:rPr>
              <a:t>🌐  Mixed-Language Pronunciation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1520" y="1590000"/>
            <a:ext cx="18000" cy="134266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11520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LLM output mixes Urdu, English medical terms and numbers in one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520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"CBC test کے لیے Johar Town آئیں" — 3 scripts in a single utterance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1520" y="248511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Naive TTS applies Urdu phonology to English words → foreign accent on medical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412" y="1590000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Needs per-token language ID + multilingual TTS or separate English synthesis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412" y="2037555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Mitigation: language-aware pipeline with per-word language detection and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52666"/>
            <a:ext cx="10725785" cy="1622666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520" y="3392666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6DB"/>
                </a:solidFill>
                <a:latin typeface="Calibri"/>
              </a:rPr>
              <a:t>🔢  Number, Price &amp; Date Normalisation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1520" y="3392666"/>
            <a:ext cx="18000" cy="134266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1520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LLM outputs raw: Rs. 1,450  /  12 May 2026  /  10:30 AM  /  CBC (Complete Blood 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1520" y="3840221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TTS needs Urdu: "ایک ہزار چار سو پچاس روپے"  /  "بارہ مئی دو ہزار چھبیس"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0" y="428777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No robust Urdu text normalisation library — must be built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412" y="3392666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Edge cases: ranges (500–1500), abbreviations (Dr., Dept.), mixed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4412" y="3840221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Mitigation: custom Urdu normalisation module as pre-processing before TTS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55332"/>
            <a:ext cx="10725785" cy="1622666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520" y="5195332"/>
            <a:ext cx="2620000" cy="134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alibri"/>
              </a:rPr>
              <a:t>🎙️  Prosody, Latency &amp; Brand Voice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1520" y="5195332"/>
            <a:ext cx="18000" cy="134266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1520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Helpdesk requires TTS response within ~1 second — needs chunked sentence 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1520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On-prem models produce flat monotone speech; question intonation often incorrect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1520" y="609044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Patients need empathetic, unhurried delivery — current models lack emotional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412" y="5195332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RTF: HMM &lt; 0.1× CPU (robotic)  |  VITS ~0.3–0.5× GPU  |  XTTS v2 ~1–2× (8GB VRAM)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4412" y="5642887"/>
            <a:ext cx="3712892" cy="44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111827"/>
                </a:solidFill>
                <a:latin typeface="Calibri"/>
              </a:rPr>
              <a:t>• Brand voice: custom cloning needs 5–30 min recordings; consistency across all calls required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What's working, what's being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✅ Fully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Telephony integration (PTCL → Asterisk → 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Real-time audio capture and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Speech-to-Text conversion (Urdu)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9981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Intent detection and classification (16+ types)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Knowledge base retrieval and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AI response generation (LLM-based)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Text-to-Speech for Urdu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06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Multi-turn workflows (Home Sampling,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08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Admin panel with live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10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Call history and transcript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Workflow builder and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13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Bot Chat testing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155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Escalation to human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0292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🔄 Under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ASR accuracy for regional accents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Intent confidence threshold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Response naturalness in edge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Call flow smoothness improvements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KB coverage for rare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📈 System 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20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Core pipeline: Stable and reliable</a:t>
            </a:r>
            <a:br/>
            <a:r>
              <a:t>• Admin panel: Production-ready</a:t>
            </a:r>
            <a:br/>
            <a:r>
              <a:t>• Telephony: Handles concurrent calls</a:t>
            </a:r>
            <a:br/>
            <a:r>
              <a:t>• KB: Comprehensive coverage</a:t>
            </a:r>
            <a:br/>
            <a:r>
              <a:t>• Uptime: Consistent with auto-recovery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Key outcomes delivered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Customer Support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AI handles routine inquiries end-to-end — pricing, availability, preparation — without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Faster Query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Average call under 2 minutes. Zero hold time — instant responses without waiting in a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Reduced Manual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Repetitive queries (pricing, test info, locations) handled by AI — agents focus on complex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Better Customer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Natural Urdu conversation, 24/7 availability, consistent accuracy from a single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Scalable AI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On-premise architecture handles multiple simultaneous calls. No per-call API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Centralized Admin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40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Complete visibility — live calls, transcripts, analytics, workflows — all from one dashboard.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100000">
              <a:srgbClr val="1A56D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The AI Helpdesk system has been successfully developed with all core modules operational.</a:t>
            </a:r>
            <a:br/>
            <a:r>
              <a:t>The platform is actively handling calls and delivering measurable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377440"/>
            <a:ext cx="7616952" cy="2011680"/>
          </a:xfrm>
          <a:prstGeom prst="roundRect">
            <a:avLst/>
          </a:prstGeom>
          <a:solidFill>
            <a:srgbClr val="24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0" y="2560320"/>
            <a:ext cx="70683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✓ End-to-end voice AI pipeline (telephony → STT → intent → KB → LLM → TTS)</a:t>
            </a:r>
            <a:br/>
            <a:r>
              <a:t>✓ 16+ intent categories with intelligent routing</a:t>
            </a:r>
            <a:br/>
            <a:r>
              <a:t>✓ Comprehensive knowledge base covering all lab services</a:t>
            </a:r>
            <a:br/>
            <a:r>
              <a:t>✓ Multi-turn workflow automation (home sampling, appointments)</a:t>
            </a:r>
            <a:br/>
            <a:r>
              <a:t>✓ Full-featured admin panel with real-time monitoring</a:t>
            </a:r>
            <a:br/>
            <a:r>
              <a:t>✓ Smart escalation to human agents for unresolved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9473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 for your continued partnership.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2503</Words>
  <Application>Microsoft Macintosh PowerPoint</Application>
  <PresentationFormat>Custom</PresentationFormat>
  <Paragraphs>259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Aqib Mumtaz</cp:lastModifiedBy>
  <cp:revision>15</cp:revision>
  <dcterms:created xsi:type="dcterms:W3CDTF">2013-01-27T09:14:16Z</dcterms:created>
  <dcterms:modified xsi:type="dcterms:W3CDTF">2026-05-22T13:38:05Z</dcterms:modified>
  <cp:category/>
</cp:coreProperties>
</file>